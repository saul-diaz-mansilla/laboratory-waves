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6.xml"/><Relationship Id="rId22" Type="http://schemas.openxmlformats.org/officeDocument/2006/relationships/font" Target="fonts/Lato-italic.fntdata"/><Relationship Id="rId10" Type="http://schemas.openxmlformats.org/officeDocument/2006/relationships/slide" Target="slides/slide5.xml"/><Relationship Id="rId21" Type="http://schemas.openxmlformats.org/officeDocument/2006/relationships/font" Target="fonts/La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boldItalic.fntdata"/><Relationship Id="rId6" Type="http://schemas.openxmlformats.org/officeDocument/2006/relationships/slide" Target="slides/slide1.xml"/><Relationship Id="rId18" Type="http://schemas.openxmlformats.org/officeDocument/2006/relationships/font" Target="fonts/Ralew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dcf013d19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cdcf013d19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dcf013d19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cdcf013d19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cdcf013d1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cdcf013d1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cdcf013d19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cdcf013d19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cdcf013d19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cdcf013d19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cdcf013d19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cdcf013d19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cdcf013d19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cdcf013d19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cdcf013d19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cdcf013d19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cdcf013d19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cdcf013d19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88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729442" y="6889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8063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1413075"/>
            <a:ext cx="7688700" cy="29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6.png"/><Relationship Id="rId10" Type="http://schemas.openxmlformats.org/officeDocument/2006/relationships/image" Target="../media/image5.png"/><Relationship Id="rId13" Type="http://schemas.openxmlformats.org/officeDocument/2006/relationships/image" Target="../media/image13.png"/><Relationship Id="rId1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9" Type="http://schemas.openxmlformats.org/officeDocument/2006/relationships/image" Target="../media/image6.png"/><Relationship Id="rId15" Type="http://schemas.openxmlformats.org/officeDocument/2006/relationships/image" Target="../media/image10.png"/><Relationship Id="rId14" Type="http://schemas.openxmlformats.org/officeDocument/2006/relationships/image" Target="../media/image8.png"/><Relationship Id="rId17" Type="http://schemas.openxmlformats.org/officeDocument/2006/relationships/image" Target="../media/image15.png"/><Relationship Id="rId16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11.png"/><Relationship Id="rId7" Type="http://schemas.openxmlformats.org/officeDocument/2006/relationships/image" Target="../media/image4.png"/><Relationship Id="rId8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5.png"/><Relationship Id="rId10" Type="http://schemas.openxmlformats.org/officeDocument/2006/relationships/image" Target="../media/image6.png"/><Relationship Id="rId13" Type="http://schemas.openxmlformats.org/officeDocument/2006/relationships/image" Target="../media/image27.png"/><Relationship Id="rId1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9" Type="http://schemas.openxmlformats.org/officeDocument/2006/relationships/image" Target="../media/image3.png"/><Relationship Id="rId15" Type="http://schemas.openxmlformats.org/officeDocument/2006/relationships/image" Target="../media/image61.png"/><Relationship Id="rId14" Type="http://schemas.openxmlformats.org/officeDocument/2006/relationships/image" Target="../media/image19.png"/><Relationship Id="rId17" Type="http://schemas.openxmlformats.org/officeDocument/2006/relationships/image" Target="../media/image55.png"/><Relationship Id="rId16" Type="http://schemas.openxmlformats.org/officeDocument/2006/relationships/image" Target="../media/image18.png"/><Relationship Id="rId5" Type="http://schemas.openxmlformats.org/officeDocument/2006/relationships/image" Target="../media/image14.png"/><Relationship Id="rId6" Type="http://schemas.openxmlformats.org/officeDocument/2006/relationships/image" Target="../media/image2.png"/><Relationship Id="rId7" Type="http://schemas.openxmlformats.org/officeDocument/2006/relationships/image" Target="../media/image11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Relationship Id="rId4" Type="http://schemas.openxmlformats.org/officeDocument/2006/relationships/image" Target="../media/image30.jpg"/><Relationship Id="rId5" Type="http://schemas.openxmlformats.org/officeDocument/2006/relationships/image" Target="../media/image53.png"/><Relationship Id="rId6" Type="http://schemas.openxmlformats.org/officeDocument/2006/relationships/image" Target="../media/image20.png"/><Relationship Id="rId7" Type="http://schemas.openxmlformats.org/officeDocument/2006/relationships/image" Target="../media/image25.png"/><Relationship Id="rId8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0" Type="http://schemas.openxmlformats.org/officeDocument/2006/relationships/image" Target="../media/image58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9.png"/><Relationship Id="rId4" Type="http://schemas.openxmlformats.org/officeDocument/2006/relationships/image" Target="../media/image42.png"/><Relationship Id="rId9" Type="http://schemas.openxmlformats.org/officeDocument/2006/relationships/image" Target="../media/image26.png"/><Relationship Id="rId5" Type="http://schemas.openxmlformats.org/officeDocument/2006/relationships/image" Target="../media/image39.png"/><Relationship Id="rId6" Type="http://schemas.openxmlformats.org/officeDocument/2006/relationships/image" Target="../media/image24.png"/><Relationship Id="rId7" Type="http://schemas.openxmlformats.org/officeDocument/2006/relationships/image" Target="../media/image37.png"/><Relationship Id="rId8" Type="http://schemas.openxmlformats.org/officeDocument/2006/relationships/image" Target="../media/image3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5.png"/><Relationship Id="rId4" Type="http://schemas.openxmlformats.org/officeDocument/2006/relationships/image" Target="../media/image47.png"/><Relationship Id="rId5" Type="http://schemas.openxmlformats.org/officeDocument/2006/relationships/image" Target="../media/image28.png"/><Relationship Id="rId6" Type="http://schemas.openxmlformats.org/officeDocument/2006/relationships/image" Target="../media/image33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7.png"/><Relationship Id="rId4" Type="http://schemas.openxmlformats.org/officeDocument/2006/relationships/image" Target="../media/image36.png"/><Relationship Id="rId5" Type="http://schemas.openxmlformats.org/officeDocument/2006/relationships/image" Target="../media/image35.png"/><Relationship Id="rId6" Type="http://schemas.openxmlformats.org/officeDocument/2006/relationships/image" Target="../media/image43.png"/></Relationships>
</file>

<file path=ppt/slides/_rels/slide8.xml.rels><?xml version="1.0" encoding="UTF-8" standalone="yes"?><Relationships xmlns="http://schemas.openxmlformats.org/package/2006/relationships"><Relationship Id="rId10" Type="http://schemas.openxmlformats.org/officeDocument/2006/relationships/image" Target="../media/image53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6.png"/><Relationship Id="rId4" Type="http://schemas.openxmlformats.org/officeDocument/2006/relationships/image" Target="../media/image44.png"/><Relationship Id="rId9" Type="http://schemas.openxmlformats.org/officeDocument/2006/relationships/image" Target="../media/image20.png"/><Relationship Id="rId5" Type="http://schemas.openxmlformats.org/officeDocument/2006/relationships/image" Target="../media/image54.png"/><Relationship Id="rId6" Type="http://schemas.openxmlformats.org/officeDocument/2006/relationships/image" Target="../media/image41.png"/><Relationship Id="rId7" Type="http://schemas.openxmlformats.org/officeDocument/2006/relationships/image" Target="../media/image40.png"/><Relationship Id="rId8" Type="http://schemas.openxmlformats.org/officeDocument/2006/relationships/image" Target="../media/image46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59.png"/><Relationship Id="rId10" Type="http://schemas.openxmlformats.org/officeDocument/2006/relationships/image" Target="../media/image48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0.png"/><Relationship Id="rId4" Type="http://schemas.openxmlformats.org/officeDocument/2006/relationships/image" Target="../media/image38.png"/><Relationship Id="rId9" Type="http://schemas.openxmlformats.org/officeDocument/2006/relationships/image" Target="../media/image52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49.png"/><Relationship Id="rId8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3.png"/><Relationship Id="rId4" Type="http://schemas.openxmlformats.org/officeDocument/2006/relationships/image" Target="../media/image28.png"/><Relationship Id="rId5" Type="http://schemas.openxmlformats.org/officeDocument/2006/relationships/image" Target="../media/image35.png"/><Relationship Id="rId6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474368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Modelling a Transmission Line through Monte Carlo Simulations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452" y="3525206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Saul Diaz &amp; Ricardo Gares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8363" y="156739"/>
            <a:ext cx="5487124" cy="60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7085880" y="3889893"/>
            <a:ext cx="1812000" cy="390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7129293" y="2506654"/>
            <a:ext cx="1291200" cy="535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" name="Google Shape;95;p14"/>
          <p:cNvSpPr txBox="1"/>
          <p:nvPr>
            <p:ph type="title"/>
          </p:nvPr>
        </p:nvSpPr>
        <p:spPr>
          <a:xfrm>
            <a:off x="727650" y="788874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</a:t>
            </a:r>
            <a:endParaRPr/>
          </a:p>
        </p:txBody>
      </p:sp>
      <p:pic>
        <p:nvPicPr>
          <p:cNvPr id="96" name="Google Shape;9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6000" y="1626797"/>
            <a:ext cx="2408499" cy="25461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/>
          <p:nvPr/>
        </p:nvSpPr>
        <p:spPr>
          <a:xfrm>
            <a:off x="3548325" y="2737647"/>
            <a:ext cx="423300" cy="444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2062225" y="1923234"/>
            <a:ext cx="205800" cy="97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2844000" y="1923234"/>
            <a:ext cx="205800" cy="97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1280450" y="1923234"/>
            <a:ext cx="205800" cy="97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1326350" y="2189360"/>
            <a:ext cx="114000" cy="1442700"/>
          </a:xfrm>
          <a:prstGeom prst="upDownArrow">
            <a:avLst>
              <a:gd fmla="val 50000" name="adj1"/>
              <a:gd fmla="val 50000" name="adj2"/>
            </a:avLst>
          </a:prstGeom>
          <a:solidFill>
            <a:srgbClr val="4A86E8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2108125" y="2189360"/>
            <a:ext cx="114000" cy="1442700"/>
          </a:xfrm>
          <a:prstGeom prst="upDownArrow">
            <a:avLst>
              <a:gd fmla="val 50000" name="adj1"/>
              <a:gd fmla="val 50000" name="adj2"/>
            </a:avLst>
          </a:prstGeom>
          <a:solidFill>
            <a:srgbClr val="4A86E8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2889900" y="2189360"/>
            <a:ext cx="114000" cy="1442700"/>
          </a:xfrm>
          <a:prstGeom prst="upDownArrow">
            <a:avLst>
              <a:gd fmla="val 50000" name="adj1"/>
              <a:gd fmla="val 50000" name="adj2"/>
            </a:avLst>
          </a:prstGeom>
          <a:solidFill>
            <a:srgbClr val="4A86E8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2365903" y="3746259"/>
            <a:ext cx="659700" cy="97800"/>
          </a:xfrm>
          <a:prstGeom prst="leftRightArrow">
            <a:avLst>
              <a:gd fmla="val 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1584128" y="3746259"/>
            <a:ext cx="659700" cy="97800"/>
          </a:xfrm>
          <a:prstGeom prst="leftRightArrow">
            <a:avLst>
              <a:gd fmla="val 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5143499" y="944069"/>
            <a:ext cx="575100" cy="6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7" name="Google Shape;10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98450" y="1573499"/>
            <a:ext cx="13335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06204" y="1573509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06678" y="1573509"/>
            <a:ext cx="32385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14775" y="3258434"/>
            <a:ext cx="36195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85175" y="3258434"/>
            <a:ext cx="29527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885749" y="3269285"/>
            <a:ext cx="16192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 title="{&quot;red&quot;:26,&quot;green&quot;:26,&quot;blue&quot;:26,&quot;origURL&quot;:&quot;https://www.codecogs.com/eqnedit.php?latex=%5Cell_0#0&quot;,&quot;size&quot;:13,&quot;width&quot;:48.70866141732284,&quot;height&quot;:35.031496062992126}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813179" y="3844059"/>
            <a:ext cx="205800" cy="245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 title="{&quot;red&quot;:26,&quot;green&quot;:26,&quot;blue&quot;:26,&quot;origURL&quot;:&quot;https://www.codecogs.com/eqnedit.php?latex=%5Cell_0#0&quot;,&quot;size&quot;:13,&quot;width&quot;:48.70866141732284,&quot;height&quot;:35.031496062992126}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592850" y="3844059"/>
            <a:ext cx="205800" cy="24544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4"/>
          <p:cNvSpPr/>
          <p:nvPr/>
        </p:nvSpPr>
        <p:spPr>
          <a:xfrm>
            <a:off x="542550" y="2818409"/>
            <a:ext cx="133200" cy="1629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727500" y="2818409"/>
            <a:ext cx="133200" cy="1629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912450" y="2818409"/>
            <a:ext cx="133200" cy="1629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3671675" y="2818409"/>
            <a:ext cx="133200" cy="1629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3856625" y="2818409"/>
            <a:ext cx="133200" cy="1629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0" name="Google Shape;120;p14"/>
          <p:cNvSpPr/>
          <p:nvPr/>
        </p:nvSpPr>
        <p:spPr>
          <a:xfrm>
            <a:off x="4041575" y="2818409"/>
            <a:ext cx="133200" cy="1629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1" name="Google Shape;121;p14" title="{&quot;red&quot;:26,&quot;green&quot;:26,&quot;blue&quot;:26,&quot;origURL&quot;:&quot;https://www.codecogs.com/eqnedit.php?latex=%5Cfrac%7Bd%5E2%7D%7Bdt%5E2%7DV_%7Bj%7D-%5Cfrac%7B1%7D%7BLC%7D(V_%7Bj%2B1%7D%2BV_%7Bj-1%7D-2V_%7Bj%7D)%3D0#0&quot;,&quot;size&quot;:13,&quot;width&quot;:251.78740157480314,&quot;height&quot;:42.14173228346457}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02268" y="4246700"/>
            <a:ext cx="3095484" cy="44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4"/>
          <p:cNvSpPr/>
          <p:nvPr/>
        </p:nvSpPr>
        <p:spPr>
          <a:xfrm>
            <a:off x="771043" y="4171794"/>
            <a:ext cx="3357900" cy="618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" name="Google Shape;123;p14"/>
          <p:cNvSpPr txBox="1"/>
          <p:nvPr/>
        </p:nvSpPr>
        <p:spPr>
          <a:xfrm>
            <a:off x="4450899" y="1047635"/>
            <a:ext cx="41235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●"/>
            </a:pPr>
            <a:r>
              <a:rPr lang="en-GB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Continuous &amp; infinite line [2,3]: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4" name="Google Shape;124;p14" title="{&quot;red&quot;:26,&quot;green&quot;:26,&quot;blue&quot;:26,&quot;origURL&quot;:&quot;https://www.codecogs.com/eqnedit.php?latex=%5Cfrac%7BV_%7Bj%2B1%7D-2V_%7Bj%7D%2BV_%7Bj-1%7D%7D%7B%5Cell_0%5E2%7D%20%5Capprox%20%5Cfrac%7B%5Cpartial%5E2%20V%7D%7B%5Cpartial%20x%5E2%7D%5Chspace%7B3mm%7D%20(%5Cell_0%5Cll%5Clambda)#0&quot;,&quot;size&quot;:13,&quot;width&quot;:236.2204724409449,&quot;height&quot;:61.818897637795274}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366707" y="1523235"/>
            <a:ext cx="2790851" cy="44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4"/>
          <p:cNvSpPr txBox="1"/>
          <p:nvPr/>
        </p:nvSpPr>
        <p:spPr>
          <a:xfrm>
            <a:off x="4787332" y="2584333"/>
            <a:ext cx="23481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○"/>
            </a:pPr>
            <a:r>
              <a:rPr lang="en-GB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Dispersion relation: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6" name="Google Shape;126;p14"/>
          <p:cNvSpPr txBox="1"/>
          <p:nvPr/>
        </p:nvSpPr>
        <p:spPr>
          <a:xfrm>
            <a:off x="4450899" y="3068394"/>
            <a:ext cx="41235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●"/>
            </a:pPr>
            <a:r>
              <a:rPr lang="en-GB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Discrete</a:t>
            </a:r>
            <a:r>
              <a:rPr lang="en-GB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&amp; infinite line  [4]: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7" name="Google Shape;127;p14" title="{&quot;red&quot;:26,&quot;green&quot;:26,&quot;blue&quot;:26,&quot;origURL&quot;:&quot;https://www.codecogs.com/eqnedit.php?latex=%5Cfrac%7B%5Cpartial%5E2%20V%7D%7B%5Cpartial%20x%5E2%7D-LC%5Cfrac%7B%5Cpartial%5E2%20V%7D%7B%5Cpartial%20t%5E2%7D%20%3D%200#0&quot;,&quot;size&quot;:13,&quot;width&quot;:264.40157480314963,&quot;height&quot;:48.70866141732284}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366707" y="2042934"/>
            <a:ext cx="1674963" cy="44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4" title="{&quot;red&quot;:26,&quot;green&quot;:26,&quot;blue&quot;:26,&quot;origURL&quot;:&quot;https://www.codecogs.com/eqnedit.php?latex=%5Comega%20(k)%20%3D%20%5Cfrac%7B%5Cell_0%7D%7B%5Csqrt%7BLC%7D%7Dk#0&quot;,&quot;size&quot;:13,&quot;width&quot;:216.16535433070865,&quot;height&quot;:35.031496062992126}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189688" y="2565735"/>
            <a:ext cx="1152811" cy="427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4" title="{&quot;red&quot;:26,&quot;green&quot;:26,&quot;blue&quot;:26,&quot;origURL&quot;:&quot;https://www.codecogs.com/eqnedit.php?latex=V_%7Bj%7D(t)%20%3D%20Ae%5E%7Bikx_%7Bj%7D%7De%5E%7B-i%5Comega%20(k)%20t%7D%2C%5Chspace%7B3mm%7D%20(x_%7Bj%7D%3Dj%5Cell_0)#0&quot;,&quot;size&quot;:13,&quot;width&quot;:273.09448818897636,&quot;height&quot;:35.031496062992126}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357549" y="3535144"/>
            <a:ext cx="2903121" cy="245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4"/>
          <p:cNvSpPr txBox="1"/>
          <p:nvPr/>
        </p:nvSpPr>
        <p:spPr>
          <a:xfrm>
            <a:off x="4778174" y="3867549"/>
            <a:ext cx="23481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○"/>
            </a:pPr>
            <a:r>
              <a:rPr lang="en-GB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Dispersion relation: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1" name="Google Shape;131;p14"/>
          <p:cNvSpPr txBox="1"/>
          <p:nvPr/>
        </p:nvSpPr>
        <p:spPr>
          <a:xfrm>
            <a:off x="4778174" y="4301104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○"/>
            </a:pPr>
            <a:r>
              <a:rPr lang="en-GB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Cut-off frequency</a:t>
            </a:r>
            <a:r>
              <a:rPr lang="en-GB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/>
          </a:p>
        </p:txBody>
      </p:sp>
      <p:pic>
        <p:nvPicPr>
          <p:cNvPr id="132" name="Google Shape;132;p14" title="{&quot;red&quot;:26,&quot;green&quot;:26,&quot;blue&quot;:26,&quot;origURL&quot;:&quot;https://www.codecogs.com/eqnedit.php?latex=%5Comega(k)%20%3D%20%5Comega_c%20%7C%5Csin(k%5Cell_0%2F2)%7C#0&quot;,&quot;size&quot;:13,&quot;width&quot;:234.75590551181102,&quot;height&quot;:24}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7139182" y="3997097"/>
            <a:ext cx="1674974" cy="1844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4" title="{&quot;red&quot;:26,&quot;green&quot;:26,&quot;blue&quot;:26,&quot;origURL&quot;:&quot;https://www.codecogs.com/eqnedit.php?latex=f_c%20%3D%20%5Comega_c%2F2%5Cpi%20%3D%201%2F%5Cpi%5Csqrt%7BLC%7D#0&quot;,&quot;size&quot;:13,&quot;width&quot;:131.88188976377953,&quot;height&quot;:19.322834645669293}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6997099" y="4386487"/>
            <a:ext cx="1811999" cy="22047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4"/>
          <p:cNvSpPr txBox="1"/>
          <p:nvPr/>
        </p:nvSpPr>
        <p:spPr>
          <a:xfrm>
            <a:off x="293163" y="1216704"/>
            <a:ext cx="41235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●"/>
            </a:pPr>
            <a:r>
              <a:rPr i="1" lang="en-GB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L</a:t>
            </a:r>
            <a:r>
              <a:rPr lang="en-GB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-</a:t>
            </a:r>
            <a:r>
              <a:rPr i="1" lang="en-GB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r>
              <a:rPr lang="en-GB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ladder network [1] </a:t>
            </a:r>
            <a:r>
              <a:rPr lang="en-GB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5"/>
          <p:cNvPicPr preferRelativeResize="0"/>
          <p:nvPr/>
        </p:nvPicPr>
        <p:blipFill rotWithShape="1">
          <a:blip r:embed="rId3">
            <a:alphaModFix/>
          </a:blip>
          <a:srcRect b="15718" l="0" r="-21758" t="0"/>
          <a:stretch/>
        </p:blipFill>
        <p:spPr>
          <a:xfrm>
            <a:off x="382438" y="1386584"/>
            <a:ext cx="1443646" cy="1142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15"/>
          <p:cNvGrpSpPr/>
          <p:nvPr/>
        </p:nvGrpSpPr>
        <p:grpSpPr>
          <a:xfrm>
            <a:off x="1735380" y="1332433"/>
            <a:ext cx="1320414" cy="1239410"/>
            <a:chOff x="629863" y="2311925"/>
            <a:chExt cx="1320414" cy="1239410"/>
          </a:xfrm>
        </p:grpSpPr>
        <p:grpSp>
          <p:nvGrpSpPr>
            <p:cNvPr id="141" name="Google Shape;141;p15"/>
            <p:cNvGrpSpPr/>
            <p:nvPr/>
          </p:nvGrpSpPr>
          <p:grpSpPr>
            <a:xfrm>
              <a:off x="629863" y="2311930"/>
              <a:ext cx="1320414" cy="1239405"/>
              <a:chOff x="985175" y="1280515"/>
              <a:chExt cx="2769324" cy="2599423"/>
            </a:xfrm>
          </p:grpSpPr>
          <p:pic>
            <p:nvPicPr>
              <p:cNvPr id="142" name="Google Shape;142;p1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1346000" y="1333812"/>
                <a:ext cx="2408499" cy="25461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3" name="Google Shape;143;p15"/>
              <p:cNvSpPr/>
              <p:nvPr/>
            </p:nvSpPr>
            <p:spPr>
              <a:xfrm>
                <a:off x="2062225" y="1630250"/>
                <a:ext cx="205800" cy="97800"/>
              </a:xfrm>
              <a:prstGeom prst="rightArrow">
                <a:avLst>
                  <a:gd fmla="val 50000" name="adj1"/>
                  <a:gd fmla="val 50000" name="adj2"/>
                </a:avLst>
              </a:prstGeom>
              <a:solidFill>
                <a:srgbClr val="FF0000"/>
              </a:solidFill>
              <a:ln cap="flat" cmpd="sng" w="4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3600" lIns="43600" spcFirstLastPara="1" rIns="43600" wrap="square" tIns="436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67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4" name="Google Shape;144;p15"/>
              <p:cNvSpPr/>
              <p:nvPr/>
            </p:nvSpPr>
            <p:spPr>
              <a:xfrm>
                <a:off x="2844000" y="1630250"/>
                <a:ext cx="205800" cy="97800"/>
              </a:xfrm>
              <a:prstGeom prst="rightArrow">
                <a:avLst>
                  <a:gd fmla="val 50000" name="adj1"/>
                  <a:gd fmla="val 50000" name="adj2"/>
                </a:avLst>
              </a:prstGeom>
              <a:solidFill>
                <a:srgbClr val="FF0000"/>
              </a:solidFill>
              <a:ln cap="flat" cmpd="sng" w="4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3600" lIns="43600" spcFirstLastPara="1" rIns="43600" wrap="square" tIns="436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67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5" name="Google Shape;145;p15"/>
              <p:cNvSpPr/>
              <p:nvPr/>
            </p:nvSpPr>
            <p:spPr>
              <a:xfrm>
                <a:off x="1280450" y="1630250"/>
                <a:ext cx="205800" cy="97800"/>
              </a:xfrm>
              <a:prstGeom prst="rightArrow">
                <a:avLst>
                  <a:gd fmla="val 50000" name="adj1"/>
                  <a:gd fmla="val 50000" name="adj2"/>
                </a:avLst>
              </a:prstGeom>
              <a:solidFill>
                <a:srgbClr val="FF0000"/>
              </a:solidFill>
              <a:ln cap="flat" cmpd="sng" w="4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3600" lIns="43600" spcFirstLastPara="1" rIns="43600" wrap="square" tIns="436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67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6" name="Google Shape;146;p15"/>
              <p:cNvSpPr/>
              <p:nvPr/>
            </p:nvSpPr>
            <p:spPr>
              <a:xfrm>
                <a:off x="1326350" y="1896376"/>
                <a:ext cx="114000" cy="1442700"/>
              </a:xfrm>
              <a:prstGeom prst="upDownArrow">
                <a:avLst>
                  <a:gd fmla="val 50000" name="adj1"/>
                  <a:gd fmla="val 50000" name="adj2"/>
                </a:avLst>
              </a:prstGeom>
              <a:solidFill>
                <a:srgbClr val="4A86E8"/>
              </a:solidFill>
              <a:ln cap="flat" cmpd="sng" w="4525">
                <a:solidFill>
                  <a:srgbClr val="4A86E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3600" lIns="43600" spcFirstLastPara="1" rIns="43600" wrap="square" tIns="436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67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7" name="Google Shape;147;p15"/>
              <p:cNvSpPr/>
              <p:nvPr/>
            </p:nvSpPr>
            <p:spPr>
              <a:xfrm>
                <a:off x="2108125" y="1896376"/>
                <a:ext cx="114000" cy="1442700"/>
              </a:xfrm>
              <a:prstGeom prst="upDownArrow">
                <a:avLst>
                  <a:gd fmla="val 50000" name="adj1"/>
                  <a:gd fmla="val 50000" name="adj2"/>
                </a:avLst>
              </a:prstGeom>
              <a:solidFill>
                <a:srgbClr val="4A86E8"/>
              </a:solidFill>
              <a:ln cap="flat" cmpd="sng" w="4525">
                <a:solidFill>
                  <a:srgbClr val="4A86E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3600" lIns="43600" spcFirstLastPara="1" rIns="43600" wrap="square" tIns="436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67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8" name="Google Shape;148;p15"/>
              <p:cNvSpPr/>
              <p:nvPr/>
            </p:nvSpPr>
            <p:spPr>
              <a:xfrm>
                <a:off x="2889900" y="1896376"/>
                <a:ext cx="114000" cy="1442700"/>
              </a:xfrm>
              <a:prstGeom prst="upDownArrow">
                <a:avLst>
                  <a:gd fmla="val 50000" name="adj1"/>
                  <a:gd fmla="val 50000" name="adj2"/>
                </a:avLst>
              </a:prstGeom>
              <a:solidFill>
                <a:srgbClr val="4A86E8"/>
              </a:solidFill>
              <a:ln cap="flat" cmpd="sng" w="4525">
                <a:solidFill>
                  <a:srgbClr val="4A86E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3600" lIns="43600" spcFirstLastPara="1" rIns="43600" wrap="square" tIns="436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67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9" name="Google Shape;149;p15"/>
              <p:cNvSpPr/>
              <p:nvPr/>
            </p:nvSpPr>
            <p:spPr>
              <a:xfrm>
                <a:off x="2365903" y="3453275"/>
                <a:ext cx="659700" cy="97800"/>
              </a:xfrm>
              <a:prstGeom prst="leftRightArrow">
                <a:avLst>
                  <a:gd fmla="val 0" name="adj1"/>
                  <a:gd fmla="val 50000" name="adj2"/>
                </a:avLst>
              </a:prstGeom>
              <a:solidFill>
                <a:schemeClr val="dk2"/>
              </a:solidFill>
              <a:ln cap="flat" cmpd="sng" w="4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3600" lIns="43600" spcFirstLastPara="1" rIns="43600" wrap="square" tIns="436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67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50" name="Google Shape;150;p15"/>
              <p:cNvSpPr/>
              <p:nvPr/>
            </p:nvSpPr>
            <p:spPr>
              <a:xfrm>
                <a:off x="1584128" y="3453275"/>
                <a:ext cx="659700" cy="97800"/>
              </a:xfrm>
              <a:prstGeom prst="leftRightArrow">
                <a:avLst>
                  <a:gd fmla="val 0" name="adj1"/>
                  <a:gd fmla="val 50000" name="adj2"/>
                </a:avLst>
              </a:prstGeom>
              <a:solidFill>
                <a:schemeClr val="dk2"/>
              </a:solidFill>
              <a:ln cap="flat" cmpd="sng" w="4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3600" lIns="43600" spcFirstLastPara="1" rIns="43600" wrap="square" tIns="436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67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pic>
            <p:nvPicPr>
              <p:cNvPr id="151" name="Google Shape;151;p15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098450" y="1280515"/>
                <a:ext cx="133350" cy="304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2" name="Google Shape;152;p15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1206204" y="1280525"/>
                <a:ext cx="266700" cy="304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3" name="Google Shape;153;p15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2806678" y="1280525"/>
                <a:ext cx="323850" cy="304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4" name="Google Shape;154;p15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2514775" y="2965450"/>
                <a:ext cx="361950" cy="304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5" name="Google Shape;155;p15"/>
              <p:cNvPicPr preferRelativeResize="0"/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985175" y="2965450"/>
                <a:ext cx="295275" cy="304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6" name="Google Shape;156;p15"/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1885749" y="2976301"/>
                <a:ext cx="161925" cy="304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7" name="Google Shape;157;p15" title="{&quot;red&quot;:26,&quot;green&quot;:26,&quot;blue&quot;:26,&quot;origURL&quot;:&quot;https://www.codecogs.com/eqnedit.php?latex=%5Cell_0#0&quot;,&quot;size&quot;:13,&quot;width&quot;:48.70866141732284,&quot;height&quot;:35.031496062992126}"/>
              <p:cNvPicPr preferRelativeResize="0"/>
              <p:nvPr/>
            </p:nvPicPr>
            <p:blipFill>
              <a:blip r:embed="rId11">
                <a:alphaModFix/>
              </a:blip>
              <a:stretch>
                <a:fillRect/>
              </a:stretch>
            </p:blipFill>
            <p:spPr>
              <a:xfrm>
                <a:off x="1813179" y="3551075"/>
                <a:ext cx="205800" cy="24545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8" name="Google Shape;158;p15" title="{&quot;red&quot;:26,&quot;green&quot;:26,&quot;blue&quot;:26,&quot;origURL&quot;:&quot;https://www.codecogs.com/eqnedit.php?latex=%5Cell_0#0&quot;,&quot;size&quot;:13,&quot;width&quot;:48.70866141732284,&quot;height&quot;:35.031496062992126}"/>
              <p:cNvPicPr preferRelativeResize="0"/>
              <p:nvPr/>
            </p:nvPicPr>
            <p:blipFill>
              <a:blip r:embed="rId11">
                <a:alphaModFix/>
              </a:blip>
              <a:stretch>
                <a:fillRect/>
              </a:stretch>
            </p:blipFill>
            <p:spPr>
              <a:xfrm>
                <a:off x="2592850" y="3551075"/>
                <a:ext cx="205800" cy="24544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59" name="Google Shape;159;p15"/>
            <p:cNvSpPr txBox="1"/>
            <p:nvPr/>
          </p:nvSpPr>
          <p:spPr>
            <a:xfrm>
              <a:off x="629875" y="2311925"/>
              <a:ext cx="1320300" cy="12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60" name="Google Shape;160;p15"/>
          <p:cNvGrpSpPr/>
          <p:nvPr/>
        </p:nvGrpSpPr>
        <p:grpSpPr>
          <a:xfrm>
            <a:off x="3312566" y="1381083"/>
            <a:ext cx="3263325" cy="1142100"/>
            <a:chOff x="-304850" y="3920225"/>
            <a:chExt cx="3263325" cy="1142100"/>
          </a:xfrm>
        </p:grpSpPr>
        <p:pic>
          <p:nvPicPr>
            <p:cNvPr id="161" name="Google Shape;161;p15"/>
            <p:cNvPicPr preferRelativeResize="0"/>
            <p:nvPr/>
          </p:nvPicPr>
          <p:blipFill rotWithShape="1">
            <a:blip r:embed="rId12">
              <a:alphaModFix/>
            </a:blip>
            <a:srcRect b="14163" l="0" r="0" t="0"/>
            <a:stretch/>
          </p:blipFill>
          <p:spPr>
            <a:xfrm>
              <a:off x="-304850" y="3945775"/>
              <a:ext cx="1062236" cy="95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" name="Google Shape;162;p15"/>
            <p:cNvSpPr txBox="1"/>
            <p:nvPr/>
          </p:nvSpPr>
          <p:spPr>
            <a:xfrm>
              <a:off x="1519675" y="3920225"/>
              <a:ext cx="1438800" cy="114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63" name="Google Shape;163;p15"/>
          <p:cNvSpPr/>
          <p:nvPr/>
        </p:nvSpPr>
        <p:spPr>
          <a:xfrm>
            <a:off x="1523392" y="1823108"/>
            <a:ext cx="303000" cy="264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4" name="Google Shape;164;p15"/>
          <p:cNvSpPr/>
          <p:nvPr/>
        </p:nvSpPr>
        <p:spPr>
          <a:xfrm>
            <a:off x="2984091" y="1844708"/>
            <a:ext cx="169200" cy="24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5" name="Google Shape;165;p15"/>
          <p:cNvSpPr/>
          <p:nvPr/>
        </p:nvSpPr>
        <p:spPr>
          <a:xfrm>
            <a:off x="3034088" y="1946961"/>
            <a:ext cx="49800" cy="60900"/>
          </a:xfrm>
          <a:prstGeom prst="ellipse">
            <a:avLst/>
          </a:prstGeom>
          <a:solidFill>
            <a:schemeClr val="dk2"/>
          </a:solidFill>
          <a:ln cap="flat" cmpd="sng" w="35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25" lIns="34225" spcFirstLastPara="1" rIns="34225" wrap="square" tIns="34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24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6" name="Google Shape;166;p15"/>
          <p:cNvSpPr/>
          <p:nvPr/>
        </p:nvSpPr>
        <p:spPr>
          <a:xfrm>
            <a:off x="3103348" y="1946961"/>
            <a:ext cx="49800" cy="60900"/>
          </a:xfrm>
          <a:prstGeom prst="ellipse">
            <a:avLst/>
          </a:prstGeom>
          <a:solidFill>
            <a:schemeClr val="dk2"/>
          </a:solidFill>
          <a:ln cap="flat" cmpd="sng" w="35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25" lIns="34225" spcFirstLastPara="1" rIns="34225" wrap="square" tIns="34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24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7" name="Google Shape;167;p15"/>
          <p:cNvSpPr/>
          <p:nvPr/>
        </p:nvSpPr>
        <p:spPr>
          <a:xfrm>
            <a:off x="3172608" y="1946961"/>
            <a:ext cx="49800" cy="60900"/>
          </a:xfrm>
          <a:prstGeom prst="ellipse">
            <a:avLst/>
          </a:prstGeom>
          <a:solidFill>
            <a:schemeClr val="dk2"/>
          </a:solidFill>
          <a:ln cap="flat" cmpd="sng" w="35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25" lIns="34225" spcFirstLastPara="1" rIns="34225" wrap="square" tIns="34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24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8" name="Google Shape;168;p15" title="{&quot;red&quot;:26,&quot;green&quot;:26,&quot;blue&quot;:26,&quot;origURL&quot;:&quot;https://www.codecogs.com/eqnedit.php?latex=%20%5Cleft%5C%7B%20%5Cbegin%7Barray%7D%7Bl%7D%20%5C%5C%20%5C%5C%20%5Cend%7Barray%7D%20%5Cright.%20#0&quot;,&quot;size&quot;:13,&quot;width&quot;:202.01574803149606,&quot;height&quot;:46.06299212598425}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628996" y="1091524"/>
            <a:ext cx="303000" cy="147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5"/>
          <p:cNvSpPr/>
          <p:nvPr/>
        </p:nvSpPr>
        <p:spPr>
          <a:xfrm>
            <a:off x="1580503" y="1933066"/>
            <a:ext cx="49800" cy="60900"/>
          </a:xfrm>
          <a:prstGeom prst="ellipse">
            <a:avLst/>
          </a:prstGeom>
          <a:solidFill>
            <a:schemeClr val="dk2"/>
          </a:solidFill>
          <a:ln cap="flat" cmpd="sng" w="35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25" lIns="34225" spcFirstLastPara="1" rIns="34225" wrap="square" tIns="34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24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0" name="Google Shape;170;p15"/>
          <p:cNvSpPr/>
          <p:nvPr/>
        </p:nvSpPr>
        <p:spPr>
          <a:xfrm>
            <a:off x="1649763" y="1933066"/>
            <a:ext cx="49800" cy="60900"/>
          </a:xfrm>
          <a:prstGeom prst="ellipse">
            <a:avLst/>
          </a:prstGeom>
          <a:solidFill>
            <a:schemeClr val="dk2"/>
          </a:solidFill>
          <a:ln cap="flat" cmpd="sng" w="35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25" lIns="34225" spcFirstLastPara="1" rIns="34225" wrap="square" tIns="34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24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1" name="Google Shape;171;p15"/>
          <p:cNvSpPr/>
          <p:nvPr/>
        </p:nvSpPr>
        <p:spPr>
          <a:xfrm>
            <a:off x="1719023" y="1933066"/>
            <a:ext cx="49800" cy="60900"/>
          </a:xfrm>
          <a:prstGeom prst="ellipse">
            <a:avLst/>
          </a:prstGeom>
          <a:solidFill>
            <a:schemeClr val="dk2"/>
          </a:solidFill>
          <a:ln cap="flat" cmpd="sng" w="35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25" lIns="34225" spcFirstLastPara="1" rIns="34225" wrap="square" tIns="34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24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2" name="Google Shape;172;p15"/>
          <p:cNvSpPr txBox="1"/>
          <p:nvPr/>
        </p:nvSpPr>
        <p:spPr>
          <a:xfrm>
            <a:off x="4438162" y="3053226"/>
            <a:ext cx="41826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○"/>
            </a:pPr>
            <a:r>
              <a:rPr lang="en-GB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Which model yields a lower root mean squared error for the dispersion relation compared to experimental data?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3" name="Google Shape;173;p15"/>
          <p:cNvSpPr txBox="1"/>
          <p:nvPr/>
        </p:nvSpPr>
        <p:spPr>
          <a:xfrm>
            <a:off x="4449013" y="2657988"/>
            <a:ext cx="26043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●"/>
            </a:pPr>
            <a:r>
              <a:rPr lang="en-GB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Research questions: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4" name="Google Shape;174;p15"/>
          <p:cNvSpPr txBox="1"/>
          <p:nvPr/>
        </p:nvSpPr>
        <p:spPr>
          <a:xfrm>
            <a:off x="4438646" y="3856706"/>
            <a:ext cx="4318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○"/>
            </a:pPr>
            <a:r>
              <a:rPr lang="en-GB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Will the measured amplitude ratio between nodes 0 and 40, as a function of frequency, yield a </a:t>
            </a:r>
            <a:r>
              <a:rPr i="1" lang="en-GB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</a:t>
            </a:r>
            <a:r>
              <a:rPr lang="en-GB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value greater than 0.05 when compared with the simulation</a:t>
            </a:r>
            <a:r>
              <a:rPr lang="en-GB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?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5" name="Google Shape;175;p15"/>
          <p:cNvSpPr txBox="1"/>
          <p:nvPr/>
        </p:nvSpPr>
        <p:spPr>
          <a:xfrm>
            <a:off x="428860" y="860232"/>
            <a:ext cx="41235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●"/>
            </a:pPr>
            <a:r>
              <a:rPr lang="en-GB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Discrete &amp; finite line [3]: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6" name="Google Shape;176;p15" title="{&quot;red&quot;:26,&quot;green&quot;:26,&quot;blue&quot;:26,&quot;origURL&quot;:&quot;https://www.codecogs.com/eqnedit.php?latex=%5Cddot%7BV%7D_%7Bj%7D%20-%20%5Cfrac%7B1%7D%7BLC%7D(V_%7Bj%2B1%7D%2BV_%7Bj-1%7D-2V_%7Bj%7D)%3D0#0&quot;,&quot;size&quot;:13,&quot;width&quot;:349.03937007874015,&quot;height&quot;:38.85826771653543}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018810" y="1614939"/>
            <a:ext cx="3001071" cy="44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5" title="{&quot;red&quot;:26,&quot;green&quot;:26,&quot;blue&quot;:26,&quot;origURL&quot;:&quot;https://www.codecogs.com/eqnedit.php?latex=%5Cddot%7BV%7D_%7B0%7D%2B%5Cfrac%7B2%7D%7BR_%7B1%7DC%7D%5Cdot%7BV%7D_%7B0%7D%2B%5Cfrac%7B2%7D%7BLC%7D(V_%7B0%7D-V_%7B1%7D)%3D%5Cfrac%7B2%7D%7BR_1C%7D%5Cdot%7BV%7D_%7B%5Ctext%7Bin%7D%7D(t)#0&quot;,&quot;size&quot;:13,&quot;width&quot;:294.3307086614173,&quot;height&quot;:41.338582677165356}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019501" y="1083241"/>
            <a:ext cx="3604459" cy="44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5" title="{&quot;red&quot;:26,&quot;green&quot;:26,&quot;blue&quot;:26,&quot;origURL&quot;:&quot;https://www.codecogs.com/eqnedit.php?latex=%5Cddot%7BV%7D_%7B40%7D%2B%5Cfrac%7B2%7D%7BR_%7B2%7DC%7D%5Cdot%7BV%7D_%7B40%7D%20%2B%20%5Cfrac%7B2%7D%7BLC%7D(V_%7B40%7D-V_%7B39%7D)%3D0#0&quot;,&quot;size&quot;:13,&quot;width&quot;:283.81889763779526,&quot;height&quot;:43.511811023622045}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019491" y="2133350"/>
            <a:ext cx="3096344" cy="44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5" title="dispersion_comparison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951813" y="2599138"/>
            <a:ext cx="3181350" cy="2386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6"/>
          <p:cNvSpPr txBox="1"/>
          <p:nvPr>
            <p:ph type="title"/>
          </p:nvPr>
        </p:nvSpPr>
        <p:spPr>
          <a:xfrm>
            <a:off x="729450" y="8063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Experimental Setup</a:t>
            </a:r>
            <a:endParaRPr/>
          </a:p>
        </p:txBody>
      </p:sp>
      <p:pic>
        <p:nvPicPr>
          <p:cNvPr id="185" name="Google Shape;18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3927" y="1028532"/>
            <a:ext cx="4222401" cy="2610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move the 6 red lines and arrows and the 3 node labels" id="186" name="Google Shape;186;p16"/>
          <p:cNvPicPr preferRelativeResize="0"/>
          <p:nvPr/>
        </p:nvPicPr>
        <p:blipFill rotWithShape="1">
          <a:blip r:embed="rId4">
            <a:alphaModFix/>
          </a:blip>
          <a:srcRect b="39478" l="0" r="-3831" t="0"/>
          <a:stretch/>
        </p:blipFill>
        <p:spPr>
          <a:xfrm>
            <a:off x="316335" y="1425360"/>
            <a:ext cx="4577251" cy="186037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6"/>
          <p:cNvSpPr/>
          <p:nvPr/>
        </p:nvSpPr>
        <p:spPr>
          <a:xfrm rot="-1326496">
            <a:off x="2517465" y="1757827"/>
            <a:ext cx="1258642" cy="173869"/>
          </a:xfrm>
          <a:prstGeom prst="rightArrow">
            <a:avLst>
              <a:gd fmla="val 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8" name="Google Shape;188;p16"/>
          <p:cNvSpPr txBox="1"/>
          <p:nvPr/>
        </p:nvSpPr>
        <p:spPr>
          <a:xfrm>
            <a:off x="1877250" y="1920660"/>
            <a:ext cx="911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Node 0</a:t>
            </a:r>
            <a:endParaRPr sz="13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9" name="Google Shape;189;p16"/>
          <p:cNvSpPr/>
          <p:nvPr/>
        </p:nvSpPr>
        <p:spPr>
          <a:xfrm rot="1270957">
            <a:off x="2517460" y="2767619"/>
            <a:ext cx="1258642" cy="174099"/>
          </a:xfrm>
          <a:prstGeom prst="rightArrow">
            <a:avLst>
              <a:gd fmla="val 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0" name="Google Shape;190;p16"/>
          <p:cNvSpPr txBox="1"/>
          <p:nvPr/>
        </p:nvSpPr>
        <p:spPr>
          <a:xfrm>
            <a:off x="1736650" y="2401635"/>
            <a:ext cx="911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Node 40</a:t>
            </a:r>
            <a:endParaRPr sz="13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1" name="Google Shape;191;p16"/>
          <p:cNvSpPr txBox="1"/>
          <p:nvPr/>
        </p:nvSpPr>
        <p:spPr>
          <a:xfrm>
            <a:off x="2528475" y="2076135"/>
            <a:ext cx="14532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Variable resistor</a:t>
            </a:r>
            <a:endParaRPr sz="13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92" name="Google Shape;192;p16" title="{&quot;red&quot;:0,&quot;green&quot;:0,&quot;blue&quot;:0,&quot;origURL&quot;:&quot;https://www.codecogs.com/eqnedit.php?latex=L%3D330%5Cpm%2020%5C%25%20%5C%20%5Cmu%5Ctext%7BH%7D#0&quot;,&quot;size&quot;:13,&quot;width&quot;:222.14173228346456,&quot;height&quot;:30.30708661417323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28775" y="3471429"/>
            <a:ext cx="2365880" cy="283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6" title="{&quot;red&quot;:0,&quot;green&quot;:0,&quot;blue&quot;:0,&quot;origURL&quot;:&quot;https://www.codecogs.com/eqnedit.php?latex=C%3D15%5Cpm%2010%5C%25%20%5C%20%5Ctext%7BnF%7D#0&quot;,&quot;size&quot;:13,&quot;width&quot;:222.14173228346456,&quot;height&quot;:30.30708661417323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90545" y="3813009"/>
            <a:ext cx="2263052" cy="24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6"/>
          <p:cNvSpPr/>
          <p:nvPr/>
        </p:nvSpPr>
        <p:spPr>
          <a:xfrm rot="1469769">
            <a:off x="2774287" y="2353745"/>
            <a:ext cx="408796" cy="175586"/>
          </a:xfrm>
          <a:prstGeom prst="rightArrow">
            <a:avLst>
              <a:gd fmla="val 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95" name="Google Shape;195;p16" title="{&quot;red&quot;:0,&quot;green&quot;:0,&quot;blue&quot;:0,&quot;origURL&quot;:&quot;https://www.codecogs.com/eqnedit.php?latex=R_1%3D150%5Cpm%205%5C%25%20%5C%20%5COmega#0&quot;,&quot;size&quot;:13,&quot;width&quot;:238.20472440944883,&quot;height&quot;:30.30708661417323}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66180" y="4181010"/>
            <a:ext cx="2321906" cy="28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6"/>
          <p:cNvSpPr/>
          <p:nvPr/>
        </p:nvSpPr>
        <p:spPr>
          <a:xfrm rot="-1991618">
            <a:off x="1314876" y="1758810"/>
            <a:ext cx="585785" cy="178400"/>
          </a:xfrm>
          <a:prstGeom prst="rightArrow">
            <a:avLst>
              <a:gd fmla="val 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7" name="Google Shape;197;p16"/>
          <p:cNvSpPr txBox="1"/>
          <p:nvPr/>
        </p:nvSpPr>
        <p:spPr>
          <a:xfrm>
            <a:off x="1108670" y="1837860"/>
            <a:ext cx="911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3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 i="1" sz="13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8" name="Google Shape;198;p16"/>
          <p:cNvSpPr/>
          <p:nvPr/>
        </p:nvSpPr>
        <p:spPr>
          <a:xfrm rot="2492355">
            <a:off x="1085074" y="2693147"/>
            <a:ext cx="393586" cy="208677"/>
          </a:xfrm>
          <a:prstGeom prst="rightArrow">
            <a:avLst>
              <a:gd fmla="val 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9" name="Google Shape;199;p16"/>
          <p:cNvSpPr txBox="1"/>
          <p:nvPr/>
        </p:nvSpPr>
        <p:spPr>
          <a:xfrm>
            <a:off x="953817" y="2376187"/>
            <a:ext cx="911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3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L</a:t>
            </a:r>
            <a:endParaRPr i="1" sz="13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0" name="Google Shape;200;p16"/>
          <p:cNvSpPr txBox="1"/>
          <p:nvPr/>
        </p:nvSpPr>
        <p:spPr>
          <a:xfrm>
            <a:off x="4466900" y="3522500"/>
            <a:ext cx="4577100" cy="15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➔"/>
            </a:pPr>
            <a:r>
              <a:rPr lang="en-GB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Transmission line circuit made of 40 sections 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➔"/>
            </a:pPr>
            <a:r>
              <a:rPr lang="en-GB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Oscilloscope Rohde &amp; Schwarz model RTB2004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➔"/>
            </a:pPr>
            <a:r>
              <a:rPr lang="en-GB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Two BNC probes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➔"/>
            </a:pPr>
            <a:r>
              <a:rPr lang="en-GB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 digital multimeter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➔"/>
            </a:pPr>
            <a:r>
              <a:rPr lang="en-GB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Coaxial BNC cables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01" name="Google Shape;201;p16" title="{&quot;red&quot;:26,&quot;green&quot;:26,&quot;blue&quot;:26,&quot;origURL&quot;:&quot;https://www.codecogs.com/eqnedit.php?latex=f_c%20%3D%20140%20%5Cpm%2020%20%5Chspace%7B0.5mm%7D%5Ctext%7BkHz%7D#0&quot;,&quot;size&quot;:13,&quot;width&quot;:217.88976377952756,&quot;height&quot;:37.01574803149607}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73189" y="4568961"/>
            <a:ext cx="2365979" cy="28367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6"/>
          <p:cNvSpPr txBox="1"/>
          <p:nvPr/>
        </p:nvSpPr>
        <p:spPr>
          <a:xfrm>
            <a:off x="8051625" y="4464675"/>
            <a:ext cx="1389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[5,6]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7"/>
          <p:cNvSpPr/>
          <p:nvPr/>
        </p:nvSpPr>
        <p:spPr>
          <a:xfrm>
            <a:off x="325550" y="1525875"/>
            <a:ext cx="4514100" cy="3535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8" name="Google Shape;208;p17"/>
          <p:cNvSpPr/>
          <p:nvPr/>
        </p:nvSpPr>
        <p:spPr>
          <a:xfrm>
            <a:off x="4981225" y="1526000"/>
            <a:ext cx="3933900" cy="3535800"/>
          </a:xfrm>
          <a:prstGeom prst="rect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09" name="Google Shape;20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0165" y="3081294"/>
            <a:ext cx="2563101" cy="1922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7"/>
          <p:cNvSpPr txBox="1"/>
          <p:nvPr>
            <p:ph type="title"/>
          </p:nvPr>
        </p:nvSpPr>
        <p:spPr>
          <a:xfrm>
            <a:off x="729450" y="708664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Methods &amp; Data Analysis</a:t>
            </a:r>
            <a:endParaRPr/>
          </a:p>
        </p:txBody>
      </p:sp>
      <p:pic>
        <p:nvPicPr>
          <p:cNvPr id="211" name="Google Shape;21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397" y="1536848"/>
            <a:ext cx="2278275" cy="170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50521" y="1536848"/>
            <a:ext cx="2278275" cy="1708706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7"/>
          <p:cNvSpPr/>
          <p:nvPr/>
        </p:nvSpPr>
        <p:spPr>
          <a:xfrm rot="1611831">
            <a:off x="2845671" y="4451994"/>
            <a:ext cx="720337" cy="177636"/>
          </a:xfrm>
          <a:prstGeom prst="rightArrow">
            <a:avLst>
              <a:gd fmla="val 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14" name="Google Shape;214;p17" title="{&quot;red&quot;:26,&quot;green&quot;:26,&quot;blue&quot;:26,&quot;origURL&quot;:&quot;https://www.codecogs.com/eqnedit.php?latex=%5Csim%2050%5Chspace%7B0.5mm%7D%5Ctext%7BMHz%7D#0&quot;,&quot;size&quot;:13,&quot;width&quot;:117.04724409448819,&quot;height&quot;:47.85826771653543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65575" y="4201398"/>
            <a:ext cx="764000" cy="130016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7"/>
          <p:cNvSpPr txBox="1"/>
          <p:nvPr/>
        </p:nvSpPr>
        <p:spPr>
          <a:xfrm>
            <a:off x="304345" y="1142341"/>
            <a:ext cx="41235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●"/>
            </a:pPr>
            <a:r>
              <a:rPr lang="en-GB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Butterworth filter [7]</a:t>
            </a:r>
            <a:r>
              <a:rPr lang="en-GB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6" name="Google Shape;216;p17"/>
          <p:cNvSpPr txBox="1"/>
          <p:nvPr/>
        </p:nvSpPr>
        <p:spPr>
          <a:xfrm>
            <a:off x="4769857" y="1131509"/>
            <a:ext cx="41235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Lato"/>
              <a:buChar char="●"/>
            </a:pPr>
            <a:r>
              <a:rPr lang="en-GB" sz="15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Measuring the dispersion relation [6]</a:t>
            </a:r>
            <a:r>
              <a:rPr lang="en-GB" sz="15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150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17" name="Google Shape;217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71153" y="1591099"/>
            <a:ext cx="1848421" cy="1511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7" title="{&quot;red&quot;:26,&quot;green&quot;:26,&quot;blue&quot;:26,&quot;origURL&quot;:&quot;https://www.codecogs.com/eqnedit.php?latex=%5Cell%20%3D%20n%5Clambda%2F2#0&quot;,&quot;size&quot;:13,&quot;width&quot;:78.4251968503937,&quot;height&quot;:29.905511811023622}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241520" y="1839559"/>
            <a:ext cx="963799" cy="25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7" title="{&quot;red&quot;:26,&quot;green&quot;:26,&quot;blue&quot;:26,&quot;origURL&quot;:&quot;https://www.codecogs.com/eqnedit.php?latex=k_n%20%3D%20%202%5Cpi%2F%5Clambda%20%3D%20n%5Cpi%2F%5Cell#0&quot;,&quot;size&quot;:13,&quot;width&quot;:95.69291338582677,&quot;height&quot;:38.10236220472441}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031719" y="2360662"/>
            <a:ext cx="1732576" cy="21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7" title="phase_space_demo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606113" y="3117700"/>
            <a:ext cx="2563101" cy="19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8"/>
          <p:cNvSpPr txBox="1"/>
          <p:nvPr>
            <p:ph type="title"/>
          </p:nvPr>
        </p:nvSpPr>
        <p:spPr>
          <a:xfrm>
            <a:off x="729450" y="8063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 &amp; Discussion: Dispersion Relation</a:t>
            </a:r>
            <a:endParaRPr/>
          </a:p>
        </p:txBody>
      </p:sp>
      <p:pic>
        <p:nvPicPr>
          <p:cNvPr id="226" name="Google Shape;22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065" y="1347195"/>
            <a:ext cx="4144699" cy="3108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44725" y="1336350"/>
            <a:ext cx="4144701" cy="3108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18" title="{&quot;red&quot;:26,&quot;green&quot;:26,&quot;blue&quot;:26,&quot;origURL&quot;:&quot;https://www.codecogs.com/eqnedit.php?latex=%5Ctext%7BRMSE%7D_%7B%5Ctext%7Bdis%7D%7D%20%3D%205.555%5Chspace%7B0.5mm%7D%20%5Ctext%7BkHz%7D#0&quot;,&quot;size&quot;:13,&quot;width&quot;:236.2204724409449,&quot;height&quot;:46.06299212598425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77188" y="4575338"/>
            <a:ext cx="2679775" cy="25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18" title="{&quot;red&quot;:26,&quot;green&quot;:26,&quot;blue&quot;:26,&quot;origURL&quot;:&quot;https://www.codecogs.com/eqnedit.php?latex=%5Ctext%7BRMSE%7D_%7B%5Ctext%7Bcon%7D%7D%3D12.574%5Chspace%7B0.5mm%7D%5Ctext%7BkHz%7D#0&quot;,&quot;size&quot;:13,&quot;width&quot;:228.99212598425197,&quot;height&quot;:28.46456692913386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19256" y="4575343"/>
            <a:ext cx="2882856" cy="25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8" title="{&quot;red&quot;:26,&quot;green&quot;:26,&quot;blue&quot;:26,&quot;origURL&quot;:&quot;https://www.codecogs.com/eqnedit.php?latex=p%5Chspace%7B1mm%7D%5Ctext%7Bvalue%7D%20%3D%200.9846635#0&quot;,&quot;size&quot;:13,&quot;width&quot;:296.4803149606299,&quot;height&quot;:23.929133858267715}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99096" y="3646019"/>
            <a:ext cx="1816926" cy="19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8" title="{&quot;red&quot;:26,&quot;green&quot;:26,&quot;blue&quot;:26,&quot;origURL&quot;:&quot;https://www.codecogs.com/eqnedit.php?latex=p%5Chspace%7B1mm%7D%5Ctext%7Bvalue%7D%20%3D%200.9999853#0&quot;,&quot;size&quot;:13,&quot;width&quot;:296.4803149606299,&quot;height&quot;:23.929133858267715}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63175" y="3635675"/>
            <a:ext cx="1816926" cy="191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6275" y="2111899"/>
            <a:ext cx="3926450" cy="2944856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9"/>
          <p:cNvSpPr txBox="1"/>
          <p:nvPr>
            <p:ph type="title"/>
          </p:nvPr>
        </p:nvSpPr>
        <p:spPr>
          <a:xfrm>
            <a:off x="729450" y="8063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 &amp; Discussion: Ratio of Amplitudes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9"/>
          <p:cNvSpPr txBox="1"/>
          <p:nvPr/>
        </p:nvSpPr>
        <p:spPr>
          <a:xfrm>
            <a:off x="466625" y="1341525"/>
            <a:ext cx="4004100" cy="4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●"/>
            </a:pPr>
            <a:r>
              <a:rPr lang="en-GB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Characteristic impedance of the line [1]: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39" name="Google Shape;239;p19" title="{&quot;red&quot;:26,&quot;green&quot;:26,&quot;blue&quot;:26,&quot;origURL&quot;:&quot;https://www.codecogs.com/eqnedit.php?latex=Z_%7B0%7D(%5Comega)%20%3D%20%5Csqrt%7B(L%2FC)(1%2F(1-%5Comega%5E2%2F%5Comega_c%5E2))%7D#0&quot;,&quot;size&quot;:13,&quot;width&quot;:411.8267716535433,&quot;height&quot;:29.5748031496063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4555" y="1389671"/>
            <a:ext cx="3617926" cy="3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9"/>
          <p:cNvSpPr txBox="1"/>
          <p:nvPr/>
        </p:nvSpPr>
        <p:spPr>
          <a:xfrm>
            <a:off x="468323" y="1742932"/>
            <a:ext cx="41235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●"/>
            </a:pPr>
            <a:r>
              <a:rPr lang="en-GB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Simulation</a:t>
            </a:r>
            <a:r>
              <a:rPr lang="en-GB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1" name="Google Shape;241;p19"/>
          <p:cNvSpPr txBox="1"/>
          <p:nvPr/>
        </p:nvSpPr>
        <p:spPr>
          <a:xfrm>
            <a:off x="4359952" y="1742932"/>
            <a:ext cx="41235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Lato"/>
              <a:buChar char="●"/>
            </a:pPr>
            <a:r>
              <a:rPr lang="en-GB" sz="15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Experiment</a:t>
            </a:r>
            <a:r>
              <a:rPr lang="en-GB" sz="15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150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42" name="Google Shape;242;p19" title="{&quot;red&quot;:26,&quot;green&quot;:26,&quot;blue&quot;:26,&quot;origURL&quot;:&quot;https://www.codecogs.com/eqnedit.php?latex=p%5Chspace%7B2mm%7D%5Ctext%7Bvalue%7D%3C10%5E%7B-300%7D#0&quot;,&quot;size&quot;:13,&quot;width&quot;:181.98425196850394,&quot;height&quot;:18.80314960629921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03103" y="3667713"/>
            <a:ext cx="1445776" cy="21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356" y="2111875"/>
            <a:ext cx="3926450" cy="2944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0"/>
          <p:cNvSpPr txBox="1"/>
          <p:nvPr>
            <p:ph type="title"/>
          </p:nvPr>
        </p:nvSpPr>
        <p:spPr>
          <a:xfrm>
            <a:off x="729450" y="8063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 &amp; Discussion: Monte Carlo Simulation</a:t>
            </a:r>
            <a:endParaRPr/>
          </a:p>
        </p:txBody>
      </p:sp>
      <p:pic>
        <p:nvPicPr>
          <p:cNvPr id="249" name="Google Shape;24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588" y="1637879"/>
            <a:ext cx="2334400" cy="17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463" y="3345259"/>
            <a:ext cx="2334400" cy="1750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0"/>
          <p:cNvSpPr txBox="1"/>
          <p:nvPr/>
        </p:nvSpPr>
        <p:spPr>
          <a:xfrm>
            <a:off x="414067" y="1265479"/>
            <a:ext cx="41235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●"/>
            </a:pPr>
            <a:r>
              <a:rPr lang="en-GB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Internal reflections</a:t>
            </a:r>
            <a:r>
              <a:rPr lang="en-GB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52" name="Google Shape;252;p20" title="{&quot;red&quot;:26,&quot;green&quot;:26,&quot;blue&quot;:26,&quot;origURL&quot;:&quot;https://www.codecogs.com/eqnedit.php?latex=R_2%20%5Cneq%20Z_%7B0%7D(%5Comega)#0&quot;,&quot;size&quot;:13,&quot;width&quot;:171.73228346456693,&quot;height&quot;:60.661417322834644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44707" y="2886408"/>
            <a:ext cx="886587" cy="185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0" title="{&quot;red&quot;:26,&quot;green&quot;:26,&quot;blue&quot;:26,&quot;origURL&quot;:&quot;https://www.codecogs.com/eqnedit.php?latex=R_2%20%3D%20Z_%7B0%7D(%5Comega)#0&quot;,&quot;size&quot;:13,&quot;width&quot;:236.2204724409449,&quot;height&quot;:30.30708661417323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55560" y="4617022"/>
            <a:ext cx="886587" cy="185738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0"/>
          <p:cNvSpPr/>
          <p:nvPr/>
        </p:nvSpPr>
        <p:spPr>
          <a:xfrm rot="8270077">
            <a:off x="2256650" y="1858046"/>
            <a:ext cx="480430" cy="145055"/>
          </a:xfrm>
          <a:prstGeom prst="rightArrow">
            <a:avLst>
              <a:gd fmla="val 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5" name="Google Shape;255;p20"/>
          <p:cNvSpPr/>
          <p:nvPr/>
        </p:nvSpPr>
        <p:spPr>
          <a:xfrm rot="8270077">
            <a:off x="2245799" y="3735801"/>
            <a:ext cx="480430" cy="145055"/>
          </a:xfrm>
          <a:prstGeom prst="rightArrow">
            <a:avLst>
              <a:gd fmla="val 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6" name="Google Shape;256;p20"/>
          <p:cNvSpPr txBox="1"/>
          <p:nvPr/>
        </p:nvSpPr>
        <p:spPr>
          <a:xfrm>
            <a:off x="2819081" y="1265481"/>
            <a:ext cx="41235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Lato"/>
              <a:buChar char="●"/>
            </a:pPr>
            <a:r>
              <a:rPr lang="en-GB" sz="15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Gaussian distribution of </a:t>
            </a:r>
            <a:r>
              <a:rPr i="1" lang="en-GB" sz="15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r>
              <a:rPr lang="en-GB" sz="15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’s and </a:t>
            </a:r>
            <a:r>
              <a:rPr i="1" lang="en-GB" sz="15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L</a:t>
            </a:r>
            <a:r>
              <a:rPr lang="en-GB" sz="15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’s</a:t>
            </a:r>
            <a:r>
              <a:rPr lang="en-GB" sz="15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150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57" name="Google Shape;25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38450" y="2322165"/>
            <a:ext cx="3104237" cy="2328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18068" y="2311189"/>
            <a:ext cx="3104226" cy="2328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0" title="{&quot;red&quot;:0,&quot;green&quot;:0,&quot;blue&quot;:0,&quot;origURL&quot;:&quot;https://www.codecogs.com/eqnedit.php?latex=C%3D15%5Cpm%2010%5C%25%20%5C%20%5Ctext%7BnF%7D#0&quot;,&quot;size&quot;:13,&quot;width&quot;:222.14173228346456,&quot;height&quot;:30.30708661417323}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474817" y="1851907"/>
            <a:ext cx="2263052" cy="24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0" title="{&quot;red&quot;:0,&quot;green&quot;:0,&quot;blue&quot;:0,&quot;origURL&quot;:&quot;https://www.codecogs.com/eqnedit.php?latex=L%3D330%5Cpm%2020%5C%25%20%5C%20%5Cmu%5Ctext%7BH%7D#0&quot;,&quot;size&quot;:13,&quot;width&quot;:222.14173228346456,&quot;height&quot;:30.30708661417323}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564976" y="1825589"/>
            <a:ext cx="2365880" cy="283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21" title="transfer_comparison_horizont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9725" y="1571594"/>
            <a:ext cx="5494275" cy="2060357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1"/>
          <p:cNvSpPr txBox="1"/>
          <p:nvPr>
            <p:ph type="title"/>
          </p:nvPr>
        </p:nvSpPr>
        <p:spPr>
          <a:xfrm>
            <a:off x="729450" y="686961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 &amp; Discussion: Monte Carlo Simulation</a:t>
            </a:r>
            <a:endParaRPr/>
          </a:p>
        </p:txBody>
      </p:sp>
      <p:sp>
        <p:nvSpPr>
          <p:cNvPr id="267" name="Google Shape;267;p21"/>
          <p:cNvSpPr txBox="1"/>
          <p:nvPr/>
        </p:nvSpPr>
        <p:spPr>
          <a:xfrm>
            <a:off x="8214400" y="4485050"/>
            <a:ext cx="1389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[5,8]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287162" y="1222154"/>
            <a:ext cx="41235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●"/>
            </a:pPr>
            <a:r>
              <a:rPr lang="en-GB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Sinusoidal input</a:t>
            </a:r>
            <a:r>
              <a:rPr lang="en-GB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3701967" y="1222156"/>
            <a:ext cx="41235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Lato"/>
              <a:buChar char="●"/>
            </a:pPr>
            <a:r>
              <a:rPr lang="en-GB" sz="15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Gaussian input:</a:t>
            </a:r>
            <a:endParaRPr sz="150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70" name="Google Shape;270;p21" title="{&quot;red&quot;:26,&quot;green&quot;:26,&quot;blue&quot;:26,&quot;origURL&quot;:&quot;https://www.codecogs.com/eqnedit.php?latex=%5Cleft(%5Cfrac%7Bm_%7B%5Ctext%7Bsim%7D%7D%7D%7Bm_%7B%5Ctext%7Bexp%7D%7D%7D%5Cright)_%7B1000%7D%20%3D%201.0%20%5Cpm%200.1#0&quot;,&quot;size&quot;:13,&quot;width&quot;:236.2204724409449,&quot;height&quot;:46.06299212598425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7941" y="4300573"/>
            <a:ext cx="2139406" cy="53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1" title="{&quot;red&quot;:26,&quot;green&quot;:26,&quot;blue&quot;:26,&quot;origURL&quot;:&quot;https://www.codecogs.com/eqnedit.php?latex=%5Cgamma%20%5Cin%20%5B1.1%2C1.3%5D#0&quot;,&quot;size&quot;:13,&quot;width&quot;:270,&quot;height&quot;:30.755905511811022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53169" y="3995825"/>
            <a:ext cx="1188726" cy="232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1" title="{&quot;red&quot;:26,&quot;green&quot;:26,&quot;blue&quot;:26,&quot;origURL&quot;:&quot;https://www.codecogs.com/eqnedit.php?latex=%5Cgamma_%7B%5Ctext%7BRef%2C1%7D%7D%3D1.09%5Cpm0.01#0&quot;,&quot;size&quot;:13,&quot;width&quot;:289.65354330708664,&quot;height&quot;:27.35433070866142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38351" y="3782545"/>
            <a:ext cx="1877700" cy="219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1" title="{&quot;red&quot;:26,&quot;green&quot;:26,&quot;blue&quot;:26,&quot;origURL&quot;:&quot;https://www.codecogs.com/eqnedit.php?latex=%5Cgamma_%7B%5Ctext%7BRef%2C2%7D%7D%3D1.88%5Cpm0.01#0&quot;,&quot;size&quot;:13,&quot;width&quot;:289.65354330708664,&quot;height&quot;:27.35433070866142}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38351" y="4229857"/>
            <a:ext cx="1877700" cy="219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1" title="{&quot;red&quot;:26,&quot;green&quot;:26,&quot;blue&quot;:26,&quot;origURL&quot;:&quot;https://www.codecogs.com/eqnedit.php?latex=%20%5Cleft%5C%7B%20%5Cbegin%7Barray%7D%7Bl%7D%20%5C%5C%20%5C%5C%20%5Cend%7Barray%7D%20%5Cright.%20#0&quot;,&quot;size&quot;:13,&quot;width&quot;:202.01574803149606,&quot;height&quot;:46.06299212598425}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91550" y="3735719"/>
            <a:ext cx="167300" cy="81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1" title="{&quot;red&quot;:26,&quot;green&quot;:26,&quot;blue&quot;:26,&quot;origURL&quot;:&quot;https://www.codecogs.com/eqnedit.php?latex=R_L%20%3D%200.73%5Cpm0.01%5Chspace%7B0.5mm%7D%5COmega#0&quot;,&quot;size&quot;:13,&quot;width&quot;:313.34645669291336,&quot;height&quot;:30.755905511811022}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056556" y="2735422"/>
            <a:ext cx="1188719" cy="126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1" title="{&quot;red&quot;:26,&quot;green&quot;:26,&quot;blue&quot;:26,&quot;origURL&quot;:&quot;https://www.codecogs.com/eqnedit.php?latex=R_L%20%5Csim%20f%5E%7B%5Cgamma%7D#0&quot;,&quot;size&quot;:13,&quot;width&quot;:270,&quot;height&quot;:30.755905511811022}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794087" y="2722308"/>
            <a:ext cx="596700" cy="153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1" title="ratio_comparison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1900" y="1533880"/>
            <a:ext cx="3650075" cy="273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2"/>
          <p:cNvSpPr txBox="1"/>
          <p:nvPr/>
        </p:nvSpPr>
        <p:spPr>
          <a:xfrm>
            <a:off x="4926500" y="2024520"/>
            <a:ext cx="23481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○"/>
            </a:pPr>
            <a:r>
              <a:t/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3" name="Google Shape;283;p22"/>
          <p:cNvSpPr/>
          <p:nvPr/>
        </p:nvSpPr>
        <p:spPr>
          <a:xfrm>
            <a:off x="5024150" y="1616832"/>
            <a:ext cx="2734500" cy="9549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4" name="Google Shape;284;p22"/>
          <p:cNvSpPr/>
          <p:nvPr/>
        </p:nvSpPr>
        <p:spPr>
          <a:xfrm>
            <a:off x="716200" y="1616832"/>
            <a:ext cx="3996900" cy="95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5" name="Google Shape;285;p22"/>
          <p:cNvSpPr txBox="1"/>
          <p:nvPr>
            <p:ph type="title"/>
          </p:nvPr>
        </p:nvSpPr>
        <p:spPr>
          <a:xfrm>
            <a:off x="729450" y="71951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</a:t>
            </a:r>
            <a:endParaRPr/>
          </a:p>
        </p:txBody>
      </p:sp>
      <p:sp>
        <p:nvSpPr>
          <p:cNvPr id="286" name="Google Shape;286;p22"/>
          <p:cNvSpPr txBox="1"/>
          <p:nvPr>
            <p:ph idx="1" type="body"/>
          </p:nvPr>
        </p:nvSpPr>
        <p:spPr>
          <a:xfrm>
            <a:off x="718600" y="2582606"/>
            <a:ext cx="3853500" cy="22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33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33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912">
                <a:solidFill>
                  <a:schemeClr val="dk2"/>
                </a:solidFill>
              </a:rPr>
              <a:t>[1] Richard P. Feynman, Robert B. Leighton, and Matthew Sands. </a:t>
            </a:r>
            <a:r>
              <a:rPr i="1" lang="en-GB" sz="912">
                <a:solidFill>
                  <a:schemeClr val="dk2"/>
                </a:solidFill>
              </a:rPr>
              <a:t>The Feynman Lectures on Physics</a:t>
            </a:r>
            <a:r>
              <a:rPr lang="en-GB" sz="912">
                <a:solidFill>
                  <a:schemeClr val="dk2"/>
                </a:solidFill>
              </a:rPr>
              <a:t>,</a:t>
            </a:r>
            <a:r>
              <a:rPr i="1" lang="en-GB" sz="912">
                <a:solidFill>
                  <a:schemeClr val="dk2"/>
                </a:solidFill>
              </a:rPr>
              <a:t> Vol. II: The Electromagnetic Field</a:t>
            </a:r>
            <a:r>
              <a:rPr lang="en-GB" sz="912">
                <a:solidFill>
                  <a:schemeClr val="dk2"/>
                </a:solidFill>
              </a:rPr>
              <a:t>. Addison-Wesley, 1964.</a:t>
            </a:r>
            <a:endParaRPr sz="912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912">
                <a:solidFill>
                  <a:schemeClr val="dk2"/>
                </a:solidFill>
              </a:rPr>
              <a:t>[2] John R. Taylor. </a:t>
            </a:r>
            <a:r>
              <a:rPr i="1" lang="en-GB" sz="912">
                <a:solidFill>
                  <a:schemeClr val="dk2"/>
                </a:solidFill>
              </a:rPr>
              <a:t>Classical Mechanics</a:t>
            </a:r>
            <a:r>
              <a:rPr lang="en-GB" sz="912">
                <a:solidFill>
                  <a:schemeClr val="dk2"/>
                </a:solidFill>
              </a:rPr>
              <a:t>. University Science Books, 2005. See Chapter 16 for the Wave Equation in Continuous Media.</a:t>
            </a:r>
            <a:endParaRPr sz="912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912">
                <a:solidFill>
                  <a:schemeClr val="dk2"/>
                </a:solidFill>
              </a:rPr>
              <a:t>[3] Mark Newman. </a:t>
            </a:r>
            <a:r>
              <a:rPr i="1" lang="en-GB" sz="912">
                <a:solidFill>
                  <a:schemeClr val="dk2"/>
                </a:solidFill>
              </a:rPr>
              <a:t>Computational Physics</a:t>
            </a:r>
            <a:r>
              <a:rPr lang="en-GB" sz="912">
                <a:solidFill>
                  <a:schemeClr val="dk2"/>
                </a:solidFill>
              </a:rPr>
              <a:t>. CreateSpace Independent Publishing Platform, 2013. Includes numerical solutions for the heat and wave equations.</a:t>
            </a:r>
            <a:endParaRPr sz="912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rPr lang="en-GB" sz="912">
                <a:solidFill>
                  <a:schemeClr val="dk2"/>
                </a:solidFill>
              </a:rPr>
              <a:t>[4] Thornton, S. T. and Marion, J. (2019). </a:t>
            </a:r>
            <a:r>
              <a:rPr i="1" lang="en-GB" sz="912">
                <a:solidFill>
                  <a:schemeClr val="dk2"/>
                </a:solidFill>
              </a:rPr>
              <a:t>Classical dynamics of particles and systems</a:t>
            </a:r>
            <a:r>
              <a:rPr lang="en-GB" sz="912">
                <a:solidFill>
                  <a:schemeClr val="dk2"/>
                </a:solidFill>
              </a:rPr>
              <a:t>, pages 498–507. MTM.</a:t>
            </a:r>
            <a:endParaRPr sz="912">
              <a:solidFill>
                <a:schemeClr val="dk2"/>
              </a:solidFill>
            </a:endParaRPr>
          </a:p>
        </p:txBody>
      </p:sp>
      <p:sp>
        <p:nvSpPr>
          <p:cNvPr id="287" name="Google Shape;287;p22"/>
          <p:cNvSpPr txBox="1"/>
          <p:nvPr>
            <p:ph type="title"/>
          </p:nvPr>
        </p:nvSpPr>
        <p:spPr>
          <a:xfrm>
            <a:off x="729447" y="2562282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References</a:t>
            </a:r>
            <a:endParaRPr/>
          </a:p>
        </p:txBody>
      </p:sp>
      <p:sp>
        <p:nvSpPr>
          <p:cNvPr id="288" name="Google Shape;288;p22"/>
          <p:cNvSpPr txBox="1"/>
          <p:nvPr/>
        </p:nvSpPr>
        <p:spPr>
          <a:xfrm>
            <a:off x="626741" y="1178745"/>
            <a:ext cx="41235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●"/>
            </a:pPr>
            <a:r>
              <a:rPr lang="en-GB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Dispersion relation</a:t>
            </a:r>
            <a:r>
              <a:rPr lang="en-GB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9" name="Google Shape;289;p22"/>
          <p:cNvSpPr txBox="1"/>
          <p:nvPr/>
        </p:nvSpPr>
        <p:spPr>
          <a:xfrm>
            <a:off x="626721" y="1671236"/>
            <a:ext cx="23481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○"/>
            </a:pPr>
            <a:r>
              <a:rPr lang="en-GB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Continuous line</a:t>
            </a:r>
            <a:r>
              <a:rPr lang="en-GB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0" name="Google Shape;290;p22"/>
          <p:cNvSpPr txBox="1"/>
          <p:nvPr/>
        </p:nvSpPr>
        <p:spPr>
          <a:xfrm>
            <a:off x="627590" y="2072050"/>
            <a:ext cx="23481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○"/>
            </a:pPr>
            <a:r>
              <a:rPr lang="en-GB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Discrete</a:t>
            </a:r>
            <a:r>
              <a:rPr lang="en-GB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line: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91" name="Google Shape;291;p22" title="{&quot;red&quot;:26,&quot;green&quot;:26,&quot;blue&quot;:26,&quot;origURL&quot;:&quot;https://www.codecogs.com/eqnedit.php?latex=%5Ctext%7BRMSE%7D_%7B%5Ctext%7Bcon%7D%7D%3D12.574%5Chspace%7B0.5mm%7D%5Ctext%7BkHz%7D#0&quot;,&quot;size&quot;:13,&quot;width&quot;:228.99212598425197,&quot;height&quot;:28.46456692913386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1465" y="1817203"/>
            <a:ext cx="1831449" cy="16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2" title="{&quot;red&quot;:26,&quot;green&quot;:26,&quot;blue&quot;:26,&quot;origURL&quot;:&quot;https://www.codecogs.com/eqnedit.php?latex=%5Ctext%7BRMSE%7D_%7B%5Ctext%7Bdis%7D%7D%20%3D%205.555%5Chspace%7B0.5mm%7D%20%5Ctext%7BkHz%7D#0&quot;,&quot;size&quot;:13,&quot;width&quot;:236.2204724409449,&quot;height&quot;:46.06299212598425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88866" y="2206011"/>
            <a:ext cx="1702525" cy="1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2"/>
          <p:cNvSpPr txBox="1"/>
          <p:nvPr/>
        </p:nvSpPr>
        <p:spPr>
          <a:xfrm>
            <a:off x="4924316" y="1178745"/>
            <a:ext cx="41235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Lato"/>
              <a:buChar char="●"/>
            </a:pPr>
            <a:r>
              <a:rPr lang="en-GB" sz="15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Ratio of amplitudes</a:t>
            </a:r>
            <a:r>
              <a:rPr lang="en-GB" sz="15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150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4" name="Google Shape;294;p22"/>
          <p:cNvSpPr txBox="1"/>
          <p:nvPr/>
        </p:nvSpPr>
        <p:spPr>
          <a:xfrm>
            <a:off x="4924311" y="1616978"/>
            <a:ext cx="23481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○"/>
            </a:pPr>
            <a:r>
              <a:t/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95" name="Google Shape;295;p22" title="{&quot;red&quot;:26,&quot;green&quot;:26,&quot;blue&quot;:26,&quot;origURL&quot;:&quot;https://www.codecogs.com/eqnedit.php?latex=p%5Chspace%7B2mm%7D%5Ctext%7Bvalue%7D%3C10%5E%7B-300%7D#0&quot;,&quot;size&quot;:13,&quot;width&quot;:181.98425196850394,&quot;height&quot;:18.80314960629921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28671" y="1687090"/>
            <a:ext cx="1695668" cy="24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2" title="{&quot;red&quot;:26,&quot;green&quot;:26,&quot;blue&quot;:26,&quot;origURL&quot;:&quot;https://www.codecogs.com/eqnedit.php?latex=%5Cleft(%5Cfrac%7Bm_%7B%5Ctext%7Bsim%7D%7D%7D%7Bm_%7B%5Ctext%7Bexp%7D%7D%7D%5Cright)_%7B1000%7D%20%3D%201.0%20%5Cpm%200.1#0&quot;,&quot;size&quot;:13,&quot;width&quot;:236.2204724409449,&quot;height&quot;:46.06299212598425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32551" y="2022464"/>
            <a:ext cx="1952900" cy="488545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2"/>
          <p:cNvSpPr txBox="1"/>
          <p:nvPr>
            <p:ph idx="1" type="body"/>
          </p:nvPr>
        </p:nvSpPr>
        <p:spPr>
          <a:xfrm>
            <a:off x="4713100" y="2725382"/>
            <a:ext cx="3853500" cy="22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2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912">
                <a:solidFill>
                  <a:schemeClr val="dk2"/>
                </a:solidFill>
              </a:rPr>
              <a:t>[5] Bourns. SRR7045 Series - Shielded SMD Power Inductors, 2013. Rev. 02/13.</a:t>
            </a:r>
            <a:endParaRPr sz="912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912">
                <a:solidFill>
                  <a:schemeClr val="dk2"/>
                </a:solidFill>
              </a:rPr>
              <a:t>[6] Charles Baynham and Richard Hobson. 2nd Year Lab - Thermal and Electrical Waves Experiment Script. Blackett Laboratory, Physics Department, Imperial College London, 2025.</a:t>
            </a:r>
            <a:endParaRPr sz="912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912">
                <a:solidFill>
                  <a:schemeClr val="dk2"/>
                </a:solidFill>
              </a:rPr>
              <a:t>[7] Paul Horowitz and Winfield Hill. </a:t>
            </a:r>
            <a:r>
              <a:rPr i="1" lang="en-GB" sz="912">
                <a:solidFill>
                  <a:schemeClr val="dk2"/>
                </a:solidFill>
              </a:rPr>
              <a:t>The Art of Electronics</a:t>
            </a:r>
            <a:r>
              <a:rPr lang="en-GB" sz="912">
                <a:solidFill>
                  <a:schemeClr val="dk2"/>
                </a:solidFill>
              </a:rPr>
              <a:t>. Cambridge University Press, Cambridge, 3rd edition, 2015. pp. 1109–1110.</a:t>
            </a:r>
            <a:endParaRPr sz="912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912">
                <a:solidFill>
                  <a:schemeClr val="dk2"/>
                </a:solidFill>
              </a:rPr>
              <a:t>[8]  Muhlethaler, J., Biela, J., Kolar, J. W., and Ecklebe, A. (2011). Improved core-loss calculation for magnetic components employed in power electronic systems. </a:t>
            </a:r>
            <a:r>
              <a:rPr i="1" lang="en-GB" sz="912">
                <a:solidFill>
                  <a:schemeClr val="dk2"/>
                </a:solidFill>
              </a:rPr>
              <a:t>IEEE Transactions on Power electronics</a:t>
            </a:r>
            <a:r>
              <a:rPr lang="en-GB" sz="912">
                <a:solidFill>
                  <a:schemeClr val="dk2"/>
                </a:solidFill>
              </a:rPr>
              <a:t>, 27(2):964–973.</a:t>
            </a:r>
            <a:endParaRPr sz="912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912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